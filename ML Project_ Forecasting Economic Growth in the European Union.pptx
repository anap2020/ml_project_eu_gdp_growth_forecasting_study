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10.xml"/>
  <Override ContentType="application/vnd.openxmlformats-officedocument.presentationml.comments+xml" PartName="/ppt/comments/comment8.xml"/>
  <Override ContentType="application/vnd.openxmlformats-officedocument.presentationml.comments+xml" PartName="/ppt/comments/comment6.xml"/>
  <Override ContentType="application/vnd.openxmlformats-officedocument.presentationml.comments+xml" PartName="/ppt/comments/comment3.xml"/>
  <Override ContentType="application/vnd.openxmlformats-officedocument.presentationml.comments+xml" PartName="/ppt/comments/comment13.xml"/>
  <Override ContentType="application/vnd.openxmlformats-officedocument.presentationml.comments+xml" PartName="/ppt/comments/comment1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9.xml"/>
  <Override ContentType="application/vnd.openxmlformats-officedocument.presentationml.comments+xml" PartName="/ppt/comments/comment1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12192000"/>
  <p:embeddedFontLst>
    <p:embeddedFont>
      <p:font typeface="Roboto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  <p:embeddedFont>
      <p:font typeface="Montserrat"/>
      <p:regular r:id="rId27"/>
      <p:bold r:id="rId28"/>
      <p:italic r:id="rId29"/>
      <p:boldItalic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4" name="Sevgi Ozdemir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33" Type="http://schemas.openxmlformats.org/officeDocument/2006/relationships/font" Target="fonts/OpenSans-italic.fntdata"/><Relationship Id="rId10" Type="http://schemas.openxmlformats.org/officeDocument/2006/relationships/slide" Target="slides/slide5.xml"/><Relationship Id="rId32" Type="http://schemas.openxmlformats.org/officeDocument/2006/relationships/font" Target="fonts/Open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regular.fntdata"/><Relationship Id="rId18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9-17T18:04:37.102">
    <p:pos x="6000" y="0"/>
    <p:text>Sevgi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9-17T18:05:30.551">
    <p:pos x="6000" y="0"/>
    <p:text>Sevgi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9-17T18:05:33.573">
    <p:pos x="6000" y="0"/>
    <p:text>Sevgi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9-17T18:05:37.292">
    <p:pos x="6000" y="0"/>
    <p:text>Sevgi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09-17T18:05:42.789">
    <p:pos x="6000" y="0"/>
    <p:text>Rita</p:tex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6-09-17T18:05:50.675">
    <p:pos x="6000" y="0"/>
    <p:text>Rita</p:tex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6-09-17T20:32:39.053">
    <p:pos x="6000" y="0"/>
    <p:text>Rita</p:tex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8" dt="2026-09-17T18:06:02.715">
    <p:pos x="6000" y="0"/>
    <p:text>Rita</p:text>
  </p:cm>
</p:cmLst>
</file>

<file path=ppt/comments/comment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9" dt="2026-09-17T20:26:16.753">
    <p:pos x="6000" y="0"/>
    <p:text>Rita</p:text>
  </p:cm>
</p:cmLst>
</file>

<file path=ppt/comments/comment10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0" dt="2026-09-17T20:46:42.723">
    <p:pos x="6000" y="0"/>
    <p:text>Rita</p:text>
  </p:cm>
</p:cmLst>
</file>

<file path=ppt/comments/comment1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1" dt="2026-09-17T18:04:57.894">
    <p:pos x="6000" y="0"/>
    <p:text>Sevgi</p:text>
  </p:cm>
  <p:cm authorId="0" idx="12" dt="2026-09-17T18:39:13.790">
    <p:pos x="0" y="0"/>
    <p:text>fine tune the country dashboard for forecast</p:text>
  </p:cm>
</p:cmLst>
</file>

<file path=ppt/comments/comment1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3" dt="2026-09-17T20:32:18.908">
    <p:pos x="6000" y="0"/>
    <p:text>Rita</p:text>
  </p:cm>
</p:cmLst>
</file>

<file path=ppt/comments/comment1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4" dt="2026-09-17T18:05:08.928">
    <p:pos x="6000" y="0"/>
    <p:text>Rita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h6bbc0f37ea60169a_1_2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h6bbc0f37ea60169a_1_2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h6bbc0f37ea60169a_1_2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h6bbc0f37ea60169a_1_2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h6bbc0f37ea60169a_1_2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h6bbc0f37ea60169a_1_2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h6bbc0f37ea60169a_1_3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h6bbc0f37ea60169a_1_3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h6bbc0f37ea60169a_1_3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h6bbc0f37ea60169a_1_2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h6bbc0f37ea60169a_1_2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h6bbc0f37ea60169a_1_2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h6bbc0f37ea60169a_1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h6bbc0f37ea60169a_1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h6bbc0f37ea60169a_1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2.xml"/><Relationship Id="rId4" Type="http://schemas.openxmlformats.org/officeDocument/2006/relationships/image" Target="../media/image1.png"/><Relationship Id="rId10" Type="http://schemas.openxmlformats.org/officeDocument/2006/relationships/image" Target="../media/image11.png"/><Relationship Id="rId9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28.png"/><Relationship Id="rId11" Type="http://schemas.openxmlformats.org/officeDocument/2006/relationships/image" Target="../media/image20.png"/><Relationship Id="rId10" Type="http://schemas.openxmlformats.org/officeDocument/2006/relationships/image" Target="../media/image21.png"/><Relationship Id="rId21" Type="http://schemas.openxmlformats.org/officeDocument/2006/relationships/image" Target="../media/image9.png"/><Relationship Id="rId13" Type="http://schemas.openxmlformats.org/officeDocument/2006/relationships/image" Target="../media/image17.pn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3.xml"/><Relationship Id="rId4" Type="http://schemas.openxmlformats.org/officeDocument/2006/relationships/image" Target="../media/image7.png"/><Relationship Id="rId9" Type="http://schemas.openxmlformats.org/officeDocument/2006/relationships/image" Target="../media/image13.png"/><Relationship Id="rId15" Type="http://schemas.openxmlformats.org/officeDocument/2006/relationships/image" Target="../media/image29.png"/><Relationship Id="rId14" Type="http://schemas.openxmlformats.org/officeDocument/2006/relationships/image" Target="../media/image19.png"/><Relationship Id="rId17" Type="http://schemas.openxmlformats.org/officeDocument/2006/relationships/image" Target="../media/image24.png"/><Relationship Id="rId16" Type="http://schemas.openxmlformats.org/officeDocument/2006/relationships/image" Target="../media/image25.png"/><Relationship Id="rId5" Type="http://schemas.openxmlformats.org/officeDocument/2006/relationships/image" Target="../media/image15.png"/><Relationship Id="rId19" Type="http://schemas.openxmlformats.org/officeDocument/2006/relationships/image" Target="../media/image27.png"/><Relationship Id="rId6" Type="http://schemas.openxmlformats.org/officeDocument/2006/relationships/image" Target="../media/image10.png"/><Relationship Id="rId18" Type="http://schemas.openxmlformats.org/officeDocument/2006/relationships/image" Target="../media/image26.png"/><Relationship Id="rId7" Type="http://schemas.openxmlformats.org/officeDocument/2006/relationships/image" Target="../media/image14.png"/><Relationship Id="rId8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4.xml"/><Relationship Id="rId4" Type="http://schemas.openxmlformats.org/officeDocument/2006/relationships/image" Target="../media/image2.png"/><Relationship Id="rId5" Type="http://schemas.openxmlformats.org/officeDocument/2006/relationships/image" Target="../media/image35.png"/><Relationship Id="rId6" Type="http://schemas.openxmlformats.org/officeDocument/2006/relationships/image" Target="../media/image30.png"/><Relationship Id="rId7" Type="http://schemas.openxmlformats.org/officeDocument/2006/relationships/image" Target="../media/image9.png"/><Relationship Id="rId8" Type="http://schemas.openxmlformats.org/officeDocument/2006/relationships/image" Target="../media/image33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50.png"/><Relationship Id="rId22" Type="http://schemas.openxmlformats.org/officeDocument/2006/relationships/image" Target="../media/image48.png"/><Relationship Id="rId21" Type="http://schemas.openxmlformats.org/officeDocument/2006/relationships/image" Target="../media/image49.png"/><Relationship Id="rId24" Type="http://schemas.openxmlformats.org/officeDocument/2006/relationships/image" Target="../media/image58.png"/><Relationship Id="rId23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5.xml"/><Relationship Id="rId4" Type="http://schemas.openxmlformats.org/officeDocument/2006/relationships/image" Target="../media/image32.png"/><Relationship Id="rId9" Type="http://schemas.openxmlformats.org/officeDocument/2006/relationships/image" Target="../media/image36.png"/><Relationship Id="rId26" Type="http://schemas.openxmlformats.org/officeDocument/2006/relationships/image" Target="../media/image57.png"/><Relationship Id="rId25" Type="http://schemas.openxmlformats.org/officeDocument/2006/relationships/image" Target="../media/image51.png"/><Relationship Id="rId28" Type="http://schemas.openxmlformats.org/officeDocument/2006/relationships/image" Target="../media/image62.png"/><Relationship Id="rId27" Type="http://schemas.openxmlformats.org/officeDocument/2006/relationships/image" Target="../media/image59.png"/><Relationship Id="rId5" Type="http://schemas.openxmlformats.org/officeDocument/2006/relationships/image" Target="../media/image34.png"/><Relationship Id="rId6" Type="http://schemas.openxmlformats.org/officeDocument/2006/relationships/image" Target="../media/image31.png"/><Relationship Id="rId29" Type="http://schemas.openxmlformats.org/officeDocument/2006/relationships/image" Target="../media/image54.png"/><Relationship Id="rId7" Type="http://schemas.openxmlformats.org/officeDocument/2006/relationships/image" Target="../media/image37.png"/><Relationship Id="rId8" Type="http://schemas.openxmlformats.org/officeDocument/2006/relationships/image" Target="../media/image39.png"/><Relationship Id="rId31" Type="http://schemas.openxmlformats.org/officeDocument/2006/relationships/image" Target="../media/image55.png"/><Relationship Id="rId30" Type="http://schemas.openxmlformats.org/officeDocument/2006/relationships/image" Target="../media/image60.png"/><Relationship Id="rId11" Type="http://schemas.openxmlformats.org/officeDocument/2006/relationships/image" Target="../media/image47.png"/><Relationship Id="rId10" Type="http://schemas.openxmlformats.org/officeDocument/2006/relationships/image" Target="../media/image40.png"/><Relationship Id="rId32" Type="http://schemas.openxmlformats.org/officeDocument/2006/relationships/image" Target="../media/image9.png"/><Relationship Id="rId13" Type="http://schemas.openxmlformats.org/officeDocument/2006/relationships/image" Target="../media/image38.png"/><Relationship Id="rId12" Type="http://schemas.openxmlformats.org/officeDocument/2006/relationships/image" Target="../media/image41.png"/><Relationship Id="rId15" Type="http://schemas.openxmlformats.org/officeDocument/2006/relationships/image" Target="../media/image45.png"/><Relationship Id="rId14" Type="http://schemas.openxmlformats.org/officeDocument/2006/relationships/image" Target="../media/image42.png"/><Relationship Id="rId17" Type="http://schemas.openxmlformats.org/officeDocument/2006/relationships/image" Target="../media/image44.png"/><Relationship Id="rId16" Type="http://schemas.openxmlformats.org/officeDocument/2006/relationships/image" Target="../media/image43.png"/><Relationship Id="rId19" Type="http://schemas.openxmlformats.org/officeDocument/2006/relationships/image" Target="../media/image46.png"/><Relationship Id="rId18" Type="http://schemas.openxmlformats.org/officeDocument/2006/relationships/image" Target="../media/image5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6.xml"/><Relationship Id="rId4" Type="http://schemas.openxmlformats.org/officeDocument/2006/relationships/image" Target="../media/image1.png"/><Relationship Id="rId9" Type="http://schemas.openxmlformats.org/officeDocument/2006/relationships/image" Target="../media/image64.png"/><Relationship Id="rId5" Type="http://schemas.openxmlformats.org/officeDocument/2006/relationships/image" Target="../media/image61.png"/><Relationship Id="rId6" Type="http://schemas.openxmlformats.org/officeDocument/2006/relationships/image" Target="../media/image63.png"/><Relationship Id="rId7" Type="http://schemas.openxmlformats.org/officeDocument/2006/relationships/image" Target="../media/image66.png"/><Relationship Id="rId8" Type="http://schemas.openxmlformats.org/officeDocument/2006/relationships/image" Target="../media/image71.png"/><Relationship Id="rId11" Type="http://schemas.openxmlformats.org/officeDocument/2006/relationships/image" Target="../media/image65.png"/><Relationship Id="rId10" Type="http://schemas.openxmlformats.org/officeDocument/2006/relationships/image" Target="../media/image67.png"/><Relationship Id="rId13" Type="http://schemas.openxmlformats.org/officeDocument/2006/relationships/image" Target="../media/image9.png"/><Relationship Id="rId12" Type="http://schemas.openxmlformats.org/officeDocument/2006/relationships/image" Target="../media/image6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7.xml"/><Relationship Id="rId4" Type="http://schemas.openxmlformats.org/officeDocument/2006/relationships/image" Target="../media/image76.png"/><Relationship Id="rId9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68.png"/><Relationship Id="rId7" Type="http://schemas.openxmlformats.org/officeDocument/2006/relationships/image" Target="../media/image90.png"/><Relationship Id="rId8" Type="http://schemas.openxmlformats.org/officeDocument/2006/relationships/image" Target="../media/image80.png"/><Relationship Id="rId11" Type="http://schemas.openxmlformats.org/officeDocument/2006/relationships/image" Target="../media/image73.png"/><Relationship Id="rId10" Type="http://schemas.openxmlformats.org/officeDocument/2006/relationships/image" Target="../media/image75.png"/><Relationship Id="rId13" Type="http://schemas.openxmlformats.org/officeDocument/2006/relationships/image" Target="../media/image72.png"/><Relationship Id="rId12" Type="http://schemas.openxmlformats.org/officeDocument/2006/relationships/image" Target="../media/image74.png"/><Relationship Id="rId1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8.xml"/><Relationship Id="rId4" Type="http://schemas.openxmlformats.org/officeDocument/2006/relationships/image" Target="../media/image81.png"/><Relationship Id="rId9" Type="http://schemas.openxmlformats.org/officeDocument/2006/relationships/image" Target="../media/image88.png"/><Relationship Id="rId5" Type="http://schemas.openxmlformats.org/officeDocument/2006/relationships/image" Target="../media/image82.png"/><Relationship Id="rId6" Type="http://schemas.openxmlformats.org/officeDocument/2006/relationships/image" Target="../media/image79.png"/><Relationship Id="rId7" Type="http://schemas.openxmlformats.org/officeDocument/2006/relationships/image" Target="../media/image86.png"/><Relationship Id="rId8" Type="http://schemas.openxmlformats.org/officeDocument/2006/relationships/image" Target="../media/image83.png"/><Relationship Id="rId11" Type="http://schemas.openxmlformats.org/officeDocument/2006/relationships/image" Target="../media/image91.png"/><Relationship Id="rId10" Type="http://schemas.openxmlformats.org/officeDocument/2006/relationships/image" Target="../media/image87.png"/><Relationship Id="rId13" Type="http://schemas.openxmlformats.org/officeDocument/2006/relationships/image" Target="../media/image93.png"/><Relationship Id="rId12" Type="http://schemas.openxmlformats.org/officeDocument/2006/relationships/image" Target="../media/image94.png"/><Relationship Id="rId1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9.xml"/><Relationship Id="rId4" Type="http://schemas.openxmlformats.org/officeDocument/2006/relationships/image" Target="../media/image1.png"/><Relationship Id="rId5" Type="http://schemas.openxmlformats.org/officeDocument/2006/relationships/image" Target="../media/image95.png"/><Relationship Id="rId6" Type="http://schemas.openxmlformats.org/officeDocument/2006/relationships/image" Target="../media/image97.png"/><Relationship Id="rId7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10.xml"/><Relationship Id="rId4" Type="http://schemas.openxmlformats.org/officeDocument/2006/relationships/image" Target="../media/image92.png"/><Relationship Id="rId9" Type="http://schemas.openxmlformats.org/officeDocument/2006/relationships/image" Target="../media/image110.png"/><Relationship Id="rId5" Type="http://schemas.openxmlformats.org/officeDocument/2006/relationships/image" Target="../media/image85.png"/><Relationship Id="rId6" Type="http://schemas.openxmlformats.org/officeDocument/2006/relationships/image" Target="../media/image109.png"/><Relationship Id="rId7" Type="http://schemas.openxmlformats.org/officeDocument/2006/relationships/image" Target="../media/image102.png"/><Relationship Id="rId8" Type="http://schemas.openxmlformats.org/officeDocument/2006/relationships/image" Target="../media/image112.png"/><Relationship Id="rId11" Type="http://schemas.openxmlformats.org/officeDocument/2006/relationships/image" Target="../media/image98.png"/><Relationship Id="rId10" Type="http://schemas.openxmlformats.org/officeDocument/2006/relationships/image" Target="../media/image101.png"/><Relationship Id="rId13" Type="http://schemas.openxmlformats.org/officeDocument/2006/relationships/image" Target="../media/image104.png"/><Relationship Id="rId12" Type="http://schemas.openxmlformats.org/officeDocument/2006/relationships/image" Target="../media/image96.png"/><Relationship Id="rId15" Type="http://schemas.openxmlformats.org/officeDocument/2006/relationships/image" Target="../media/image106.png"/><Relationship Id="rId14" Type="http://schemas.openxmlformats.org/officeDocument/2006/relationships/image" Target="../media/image100.png"/><Relationship Id="rId17" Type="http://schemas.openxmlformats.org/officeDocument/2006/relationships/image" Target="../media/image107.png"/><Relationship Id="rId16" Type="http://schemas.openxmlformats.org/officeDocument/2006/relationships/image" Target="../media/image1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11.xml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20" Type="http://schemas.openxmlformats.org/officeDocument/2006/relationships/image" Target="../media/image131.png"/><Relationship Id="rId22" Type="http://schemas.openxmlformats.org/officeDocument/2006/relationships/image" Target="../media/image125.png"/><Relationship Id="rId21" Type="http://schemas.openxmlformats.org/officeDocument/2006/relationships/image" Target="../media/image124.png"/><Relationship Id="rId24" Type="http://schemas.openxmlformats.org/officeDocument/2006/relationships/image" Target="../media/image119.png"/><Relationship Id="rId23" Type="http://schemas.openxmlformats.org/officeDocument/2006/relationships/image" Target="../media/image13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12.xml"/><Relationship Id="rId4" Type="http://schemas.openxmlformats.org/officeDocument/2006/relationships/image" Target="../media/image105.png"/><Relationship Id="rId9" Type="http://schemas.openxmlformats.org/officeDocument/2006/relationships/image" Target="../media/image108.png"/><Relationship Id="rId26" Type="http://schemas.openxmlformats.org/officeDocument/2006/relationships/image" Target="../media/image126.png"/><Relationship Id="rId25" Type="http://schemas.openxmlformats.org/officeDocument/2006/relationships/image" Target="../media/image123.png"/><Relationship Id="rId28" Type="http://schemas.openxmlformats.org/officeDocument/2006/relationships/image" Target="../media/image135.png"/><Relationship Id="rId27" Type="http://schemas.openxmlformats.org/officeDocument/2006/relationships/image" Target="../media/image132.png"/><Relationship Id="rId5" Type="http://schemas.openxmlformats.org/officeDocument/2006/relationships/image" Target="../media/image111.png"/><Relationship Id="rId6" Type="http://schemas.openxmlformats.org/officeDocument/2006/relationships/image" Target="../media/image103.png"/><Relationship Id="rId7" Type="http://schemas.openxmlformats.org/officeDocument/2006/relationships/image" Target="../media/image118.png"/><Relationship Id="rId8" Type="http://schemas.openxmlformats.org/officeDocument/2006/relationships/image" Target="../media/image114.png"/><Relationship Id="rId11" Type="http://schemas.openxmlformats.org/officeDocument/2006/relationships/image" Target="../media/image127.png"/><Relationship Id="rId10" Type="http://schemas.openxmlformats.org/officeDocument/2006/relationships/image" Target="../media/image117.png"/><Relationship Id="rId13" Type="http://schemas.openxmlformats.org/officeDocument/2006/relationships/image" Target="../media/image128.png"/><Relationship Id="rId12" Type="http://schemas.openxmlformats.org/officeDocument/2006/relationships/image" Target="../media/image113.png"/><Relationship Id="rId15" Type="http://schemas.openxmlformats.org/officeDocument/2006/relationships/image" Target="../media/image120.png"/><Relationship Id="rId14" Type="http://schemas.openxmlformats.org/officeDocument/2006/relationships/image" Target="../media/image130.png"/><Relationship Id="rId17" Type="http://schemas.openxmlformats.org/officeDocument/2006/relationships/image" Target="../media/image121.png"/><Relationship Id="rId16" Type="http://schemas.openxmlformats.org/officeDocument/2006/relationships/image" Target="../media/image122.png"/><Relationship Id="rId19" Type="http://schemas.openxmlformats.org/officeDocument/2006/relationships/image" Target="../media/image134.png"/><Relationship Id="rId18" Type="http://schemas.openxmlformats.org/officeDocument/2006/relationships/image" Target="../media/image1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13.xml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" name="Google Shape;2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143500"/>
            <a:ext cx="121920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" name="Google Shape;2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5898" y="3542854"/>
            <a:ext cx="8997553" cy="1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/>
          <p:nvPr/>
        </p:nvSpPr>
        <p:spPr>
          <a:xfrm>
            <a:off x="731500" y="932550"/>
            <a:ext cx="90585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900"/>
              <a:buFont typeface="Inter"/>
              <a:buNone/>
            </a:pPr>
            <a:r>
              <a:rPr b="1" i="0" lang="en-US" sz="390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Forecasting Next-Year GDP Growth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900"/>
              <a:buFont typeface="Inter"/>
              <a:buNone/>
            </a:pPr>
            <a:r>
              <a:rPr b="1" i="0" lang="en-US" sz="390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Across the EU-27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731504" y="2414000"/>
            <a:ext cx="90585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700"/>
              <a:buFont typeface="Inter"/>
              <a:buNone/>
            </a:pPr>
            <a:r>
              <a:rPr b="0" i="0" lang="en-US" sz="2700" u="none" cap="none" strike="noStrik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rPr>
              <a:t>A Comparative Machine Learning Study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731505" y="3895275"/>
            <a:ext cx="89976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Predicting next-year GDP growth across the EU-27</a:t>
            </a:r>
            <a:r>
              <a:rPr lang="en-US" sz="18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75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using World Bank macroeconomic indicators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731490" y="5836146"/>
            <a:ext cx="11460510" cy="294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Ana Preto</a:t>
            </a:r>
            <a:endParaRPr b="1" sz="2100">
              <a:solidFill>
                <a:srgbClr val="22222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Sevgi </a:t>
            </a:r>
            <a:r>
              <a:rPr b="1" lang="en-US" sz="2100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Özdemir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" name="Google Shape;3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" name="Google Shape;3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7875" y="315367"/>
            <a:ext cx="134094" cy="8434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" name="Google Shape;3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9059" y="1435298"/>
            <a:ext cx="11533584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" name="Google Shape;35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850" y="1734300"/>
            <a:ext cx="5193659" cy="2131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" name="Google Shape;36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15370" y="1764015"/>
            <a:ext cx="5193654" cy="21014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" name="Google Shape;37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3850" y="4032500"/>
            <a:ext cx="5193676" cy="2539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" name="Google Shape;38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00049" y="4032500"/>
            <a:ext cx="5108976" cy="2539749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/>
          <p:nvPr/>
        </p:nvSpPr>
        <p:spPr>
          <a:xfrm>
            <a:off x="707082" y="521040"/>
            <a:ext cx="114849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3150"/>
              <a:buFont typeface="Roboto"/>
              <a:buNone/>
            </a:pPr>
            <a:r>
              <a:rPr b="1" i="0" lang="en-US" sz="3150" u="none" cap="none" strike="noStrike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Research Question and Business Relevance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707082" y="1810494"/>
            <a:ext cx="617124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893"/>
              </a:buClr>
              <a:buSzPts val="2325"/>
              <a:buFont typeface="Roboto"/>
              <a:buNone/>
            </a:pPr>
            <a:r>
              <a:rPr b="1" i="0" lang="en-US" sz="2325" u="none" cap="none" strike="noStrike">
                <a:solidFill>
                  <a:srgbClr val="5C7893"/>
                </a:solidFill>
                <a:latin typeface="Roboto"/>
                <a:ea typeface="Roboto"/>
                <a:cs typeface="Roboto"/>
                <a:sym typeface="Roboto"/>
              </a:rPr>
              <a:t>RESEARCH QUESTION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682675" y="2345375"/>
            <a:ext cx="5109000" cy="13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025"/>
              <a:buFont typeface="Roboto"/>
              <a:buNone/>
            </a:pPr>
            <a:r>
              <a:rPr b="0" i="0" lang="en-US" sz="2025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Can machine learning reliably predict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025"/>
              <a:buFont typeface="Roboto"/>
              <a:buNone/>
            </a:pPr>
            <a:r>
              <a:rPr b="0" i="0" lang="en-US" sz="2025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next-year GDP growth across the EU-27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025"/>
              <a:buFont typeface="Roboto"/>
              <a:buNone/>
            </a:pPr>
            <a:r>
              <a:rPr b="0" i="0" lang="en-US" sz="2025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using World Bank macroeconomic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025"/>
              <a:buFont typeface="Roboto"/>
              <a:buNone/>
            </a:pPr>
            <a:r>
              <a:rPr b="0" i="0" lang="en-US" sz="2025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indicators?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707082" y="4162723"/>
            <a:ext cx="5462588" cy="322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893"/>
              </a:buClr>
              <a:buSzPts val="2325"/>
              <a:buFont typeface="Roboto"/>
              <a:buNone/>
            </a:pPr>
            <a:r>
              <a:rPr b="1" i="0" lang="en-US" sz="2325" u="none" cap="none" strike="noStrike">
                <a:solidFill>
                  <a:srgbClr val="5C7893"/>
                </a:solidFill>
                <a:latin typeface="Roboto"/>
                <a:ea typeface="Roboto"/>
                <a:cs typeface="Roboto"/>
                <a:sym typeface="Roboto"/>
              </a:rPr>
              <a:t>STUDY OBJECTIVE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682675" y="4704450"/>
            <a:ext cx="5109000" cy="17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025"/>
              <a:buFont typeface="Roboto"/>
              <a:buNone/>
            </a:pPr>
            <a:r>
              <a:rPr b="0" i="0" lang="en-US" sz="2025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Compare machine-learning models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025"/>
              <a:buFont typeface="Roboto"/>
              <a:buNone/>
            </a:pPr>
            <a:r>
              <a:rPr b="0" i="0" lang="en-US" sz="2025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with simple baselines and assess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025"/>
              <a:buFont typeface="Roboto"/>
              <a:buNone/>
            </a:pPr>
            <a:r>
              <a:rPr b="0" i="0" lang="en-US" sz="2025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whether additional complexity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025"/>
              <a:buFont typeface="Roboto"/>
              <a:buNone/>
            </a:pPr>
            <a:r>
              <a:rPr b="0" i="0" lang="en-US" sz="2025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improves out-of-sample forecasting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025"/>
              <a:buFont typeface="Roboto"/>
              <a:buNone/>
            </a:pPr>
            <a:r>
              <a:rPr b="0" i="0" lang="en-US" sz="2025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accuracy.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6583561" y="1810494"/>
            <a:ext cx="5608439" cy="322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893"/>
              </a:buClr>
              <a:buSzPts val="2325"/>
              <a:buFont typeface="Roboto"/>
              <a:buNone/>
            </a:pPr>
            <a:r>
              <a:rPr b="1" i="0" lang="en-US" sz="2325" u="none" cap="none" strike="noStrike">
                <a:solidFill>
                  <a:srgbClr val="5C7893"/>
                </a:solidFill>
                <a:latin typeface="Roboto"/>
                <a:ea typeface="Roboto"/>
                <a:cs typeface="Roboto"/>
                <a:sym typeface="Roboto"/>
              </a:rPr>
              <a:t>REAL-WORLD VALUE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6571357" y="2345382"/>
            <a:ext cx="4486573" cy="987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025"/>
              <a:buFont typeface="Roboto"/>
              <a:buNone/>
            </a:pPr>
            <a:r>
              <a:rPr b="0" i="0" lang="en-US" sz="2025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Next-year growth forecasts inform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025"/>
              <a:buFont typeface="Roboto"/>
              <a:buNone/>
            </a:pPr>
            <a:r>
              <a:rPr b="0" i="0" lang="en-US" sz="2025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fiscal planning, investment decisions,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025"/>
              <a:buFont typeface="Roboto"/>
              <a:buNone/>
            </a:pPr>
            <a:r>
              <a:rPr b="0" i="0" lang="en-US" sz="2025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and institutional risk management.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6583561" y="4203948"/>
            <a:ext cx="5608439" cy="329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2325"/>
              <a:buFont typeface="Roboto"/>
              <a:buNone/>
            </a:pPr>
            <a:r>
              <a:rPr b="1" i="0" lang="en-US" sz="2325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FORECASTING CHALLENGE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6571357" y="4718298"/>
            <a:ext cx="432807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025"/>
              <a:buFont typeface="Roboto"/>
              <a:buNone/>
            </a:pPr>
            <a:r>
              <a:rPr b="0" i="0" lang="en-US" sz="2025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Structural changes, business-cycle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025"/>
              <a:buFont typeface="Roboto"/>
              <a:buNone/>
            </a:pPr>
            <a:r>
              <a:rPr b="0" i="0" lang="en-US" sz="2025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shifts, measurement revisions, and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025"/>
              <a:buFont typeface="Roboto"/>
              <a:buNone/>
            </a:pPr>
            <a:r>
              <a:rPr b="0" i="0" lang="en-US" sz="2025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unexpected shocks can break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025"/>
              <a:buFont typeface="Roboto"/>
              <a:buNone/>
            </a:pPr>
            <a:r>
              <a:rPr b="0" i="0" lang="en-US" sz="2025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historical patterns.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3" name="Google Shape;5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" name="Google Shape;5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195388"/>
            <a:ext cx="12192000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" name="Google Shape;5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15732" y="1405830"/>
            <a:ext cx="9525" cy="34083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" name="Google Shape;56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25294" y="2338536"/>
            <a:ext cx="2487067" cy="10766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" name="Google Shape;5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26761" y="2359075"/>
            <a:ext cx="2474863" cy="10560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" name="Google Shape;5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4987826"/>
            <a:ext cx="12192000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" name="Google Shape;59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5671" y="5609034"/>
            <a:ext cx="2152650" cy="3838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" name="Google Shape;60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669977" y="5609034"/>
            <a:ext cx="1616125" cy="3838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1" name="Google Shape;61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37757" y="5589240"/>
            <a:ext cx="1201638" cy="4030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91200" y="5609034"/>
            <a:ext cx="2628007" cy="3838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" name="Google Shape;63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583067" y="5609034"/>
            <a:ext cx="1603921" cy="3838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" name="Google Shape;64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338792" y="5602932"/>
            <a:ext cx="1494234" cy="389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" name="Google Shape;65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65671" y="6158359"/>
            <a:ext cx="1750219" cy="4030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" name="Google Shape;66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267694" y="6165205"/>
            <a:ext cx="2762250" cy="4030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" name="Google Shape;67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181600" y="6172200"/>
            <a:ext cx="2042815" cy="396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" name="Google Shape;68;p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376071" y="6172200"/>
            <a:ext cx="2091630" cy="396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" name="Google Shape;69;p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9619357" y="6172200"/>
            <a:ext cx="2213521" cy="396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0" name="Google Shape;70;p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461177" y="2736205"/>
            <a:ext cx="780157" cy="23991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6"/>
          <p:cNvSpPr/>
          <p:nvPr/>
        </p:nvSpPr>
        <p:spPr>
          <a:xfrm>
            <a:off x="329059" y="1563588"/>
            <a:ext cx="4878705" cy="246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950"/>
              <a:buFont typeface="Roboto"/>
              <a:buNone/>
            </a:pPr>
            <a:r>
              <a:rPr b="1" i="0" lang="en-US" sz="1950" u="none" cap="none" strike="noStrik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Dataset overview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390079" y="2077938"/>
            <a:ext cx="11801921" cy="239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Source: World Bank World Development Indicators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390079" y="2509986"/>
            <a:ext cx="6475095" cy="233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Scope: 27 EU countries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390079" y="2914650"/>
            <a:ext cx="7983855" cy="226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Source period: 1995–2025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377875" y="3305475"/>
            <a:ext cx="50109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After preprocessing: 810</a:t>
            </a: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country-year observations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377875" y="4018657"/>
            <a:ext cx="11001375" cy="226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Feature set: 11 macroeconomic indicators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329059" y="4622155"/>
            <a:ext cx="6822757" cy="20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425"/>
              <a:buFont typeface="Roboto"/>
              <a:buNone/>
            </a:pPr>
            <a:r>
              <a:rPr b="0" i="0" lang="en-US" sz="1425" u="none" cap="none" strike="noStrike">
                <a:solidFill>
                  <a:srgbClr val="777777"/>
                </a:solidFill>
                <a:latin typeface="Roboto"/>
                <a:ea typeface="Roboto"/>
                <a:cs typeface="Roboto"/>
                <a:sym typeface="Roboto"/>
              </a:rPr>
              <a:t>Unit of analysis: country-year.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5888682" y="1556742"/>
            <a:ext cx="5770245" cy="2879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950"/>
              <a:buFont typeface="Roboto"/>
              <a:buNone/>
            </a:pPr>
            <a:r>
              <a:rPr b="1" i="0" lang="en-US" sz="1950" u="none" cap="none" strike="noStrik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Target construction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6022777" y="2571750"/>
            <a:ext cx="2206675" cy="610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Year t features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macroeconomic indicators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9619357" y="2571750"/>
            <a:ext cx="1901875" cy="630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Year t+1 target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next-year GDP growth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5900886" y="3819823"/>
            <a:ext cx="5413177" cy="562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Features from year t predict GDP growth in the following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year within each country.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341263" y="5191423"/>
            <a:ext cx="4500562" cy="212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575"/>
              <a:buFont typeface="Roboto"/>
              <a:buNone/>
            </a:pPr>
            <a:r>
              <a:rPr b="1" i="0" lang="en-US" sz="1575" u="none" cap="none" strike="noStrik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11 model features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609600" y="5685234"/>
            <a:ext cx="3999548" cy="212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Roboto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Current GDP growth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2877294" y="5685234"/>
            <a:ext cx="3130868" cy="212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Roboto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GDP per capita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4730353" y="5685234"/>
            <a:ext cx="2045018" cy="191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Roboto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Inflation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998369" y="5685234"/>
            <a:ext cx="6193631" cy="212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Roboto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Gross fixed capital formation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8765977" y="5685234"/>
            <a:ext cx="2696528" cy="212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Roboto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Unemployment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10460682" y="5685234"/>
            <a:ext cx="1731318" cy="20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Roboto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Trade openness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780157" y="6254353"/>
            <a:ext cx="2479358" cy="191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Roboto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FDI inflows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2560290" y="6254353"/>
            <a:ext cx="4868228" cy="20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Roboto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Government consumption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5388769" y="6254353"/>
            <a:ext cx="3782378" cy="212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Roboto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Population growth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7717482" y="6254353"/>
            <a:ext cx="3709988" cy="212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Roboto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GDP growth lag 1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10046196" y="6254353"/>
            <a:ext cx="2145804" cy="212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Roboto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GDP growth lag 2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707082" y="521040"/>
            <a:ext cx="114849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3750"/>
              <a:buFont typeface="Roboto"/>
              <a:buNone/>
            </a:pPr>
            <a:r>
              <a:rPr b="1" lang="en-US" sz="3150">
                <a:solidFill>
                  <a:srgbClr val="1A3646"/>
                </a:solidFill>
                <a:latin typeface="Roboto"/>
                <a:ea typeface="Roboto"/>
                <a:cs typeface="Roboto"/>
                <a:sym typeface="Roboto"/>
              </a:rPr>
              <a:t>Data Source and Target Design</a:t>
            </a:r>
            <a:endParaRPr b="1" sz="3150">
              <a:solidFill>
                <a:srgbClr val="1A36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reencoded.png" id="95" name="Google Shape;95;p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77875" y="315367"/>
            <a:ext cx="134094" cy="843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1" name="Google Shape;1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2" name="Google Shape;10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6690" y="5605016"/>
            <a:ext cx="11338471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" name="Google Shape;10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3694" y="5726311"/>
            <a:ext cx="743694" cy="73372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7"/>
          <p:cNvSpPr/>
          <p:nvPr/>
        </p:nvSpPr>
        <p:spPr>
          <a:xfrm>
            <a:off x="1670300" y="5829300"/>
            <a:ext cx="10046100" cy="5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Leakage control: These choices keep future test-period information out of model training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and make the out-of-sample estimate more credible.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7875" y="315367"/>
            <a:ext cx="134094" cy="84340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7"/>
          <p:cNvSpPr/>
          <p:nvPr/>
        </p:nvSpPr>
        <p:spPr>
          <a:xfrm>
            <a:off x="707082" y="521040"/>
            <a:ext cx="114849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3750"/>
              <a:buFont typeface="Roboto"/>
              <a:buNone/>
            </a:pPr>
            <a:r>
              <a:rPr b="1" lang="en-US" sz="3150">
                <a:solidFill>
                  <a:srgbClr val="1A3646"/>
                </a:solidFill>
                <a:latin typeface="Roboto"/>
                <a:ea typeface="Roboto"/>
                <a:cs typeface="Roboto"/>
                <a:sym typeface="Roboto"/>
              </a:rPr>
              <a:t>Feature Engineering and Leakage Prevention</a:t>
            </a:r>
            <a:endParaRPr b="1" sz="3150">
              <a:solidFill>
                <a:srgbClr val="1A36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reencoded.png" id="107" name="Google Shape;107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1098" y="1330375"/>
            <a:ext cx="11301861" cy="4224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3" name="Google Shape;11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4" name="Google Shape;11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7875" y="1988790"/>
            <a:ext cx="4773811" cy="42914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5" name="Google Shape;11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7875" y="4967288"/>
            <a:ext cx="4754761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6" name="Google Shape;11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0784" y="5232648"/>
            <a:ext cx="2121396" cy="98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7" name="Google Shape;117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04071" y="5236071"/>
            <a:ext cx="2145655" cy="98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8" name="Google Shape;118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39953" y="1424285"/>
            <a:ext cx="6602611" cy="2574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9" name="Google Shape;119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39953" y="4031754"/>
            <a:ext cx="6602611" cy="2502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0" name="Google Shape;120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668000" y="4361557"/>
            <a:ext cx="1316682" cy="2036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1" name="Google Shape;121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99765" y="2653903"/>
            <a:ext cx="4486656" cy="23180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2" name="Google Shape;122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99765" y="2653903"/>
            <a:ext cx="1794603" cy="57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3" name="Google Shape;123;p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294368" y="2653903"/>
            <a:ext cx="1413000" cy="57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4" name="Google Shape;124;p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707368" y="2653903"/>
            <a:ext cx="1279053" cy="57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5" name="Google Shape;125;p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99765" y="3224278"/>
            <a:ext cx="1794603" cy="5840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6" name="Google Shape;126;p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75974" y="3370299"/>
            <a:ext cx="304800" cy="292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7" name="Google Shape;127;p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2294368" y="3224278"/>
            <a:ext cx="1413000" cy="5840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8" name="Google Shape;128;p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707368" y="3224278"/>
            <a:ext cx="1279053" cy="5840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9" name="Google Shape;129;p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99765" y="3808342"/>
            <a:ext cx="1794603" cy="5840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0" name="Google Shape;130;p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75966" y="3954358"/>
            <a:ext cx="304806" cy="292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1" name="Google Shape;131;p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2294368" y="3808342"/>
            <a:ext cx="1413000" cy="5840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2" name="Google Shape;132;p8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3707368" y="3808342"/>
            <a:ext cx="1279053" cy="5840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3" name="Google Shape;133;p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575966" y="4538422"/>
            <a:ext cx="304806" cy="292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4" name="Google Shape;134;p8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2294368" y="4392406"/>
            <a:ext cx="1413000" cy="579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5" name="Google Shape;135;p8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3707368" y="4392406"/>
            <a:ext cx="1279053" cy="579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6" name="Google Shape;136;p8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0789890" y="4491930"/>
            <a:ext cx="524173" cy="4799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7" name="Google Shape;137;p8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5400973" y="4368403"/>
            <a:ext cx="5132784" cy="20710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8" name="Google Shape;138;p8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5425380" y="1680121"/>
            <a:ext cx="6400800" cy="20435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9" name="Google Shape;139;p8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2901553" y="5397103"/>
            <a:ext cx="585192" cy="569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0" name="Google Shape;140;p8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633859" y="5390257"/>
            <a:ext cx="597396" cy="57596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8"/>
          <p:cNvSpPr/>
          <p:nvPr/>
        </p:nvSpPr>
        <p:spPr>
          <a:xfrm>
            <a:off x="785520" y="2653903"/>
            <a:ext cx="1585053" cy="570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2251505" y="2653903"/>
            <a:ext cx="1479675" cy="570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Feature years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3664506" y="2653903"/>
            <a:ext cx="1345728" cy="570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Target years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961124" y="3224275"/>
            <a:ext cx="15852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Training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2256268" y="3224278"/>
            <a:ext cx="1470150" cy="584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1995–2019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3669268" y="3224278"/>
            <a:ext cx="1336203" cy="584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1996–2020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934174" y="3808350"/>
            <a:ext cx="24828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Held-out 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2256268" y="3808342"/>
            <a:ext cx="1470150" cy="584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2020–2024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3669268" y="3808342"/>
            <a:ext cx="1336203" cy="584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2021–2025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961125" y="4392400"/>
            <a:ext cx="28041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Final reporting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2256268" y="4392406"/>
            <a:ext cx="1470150" cy="579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 set used once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3669268" y="4392406"/>
            <a:ext cx="1336203" cy="579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tuning on 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329050" y="1175500"/>
            <a:ext cx="48225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50"/>
              <a:buFont typeface="Inter"/>
              <a:buNone/>
            </a:pPr>
            <a:r>
              <a:rPr b="0" i="0" lang="en-US" sz="11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Models are trained on historical country-year data, tuned only inside the</a:t>
            </a:r>
            <a:r>
              <a:rPr lang="en-U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1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training period, and evaluated once on the held-out test period.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511969" y="2187625"/>
            <a:ext cx="4210050" cy="219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46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3646"/>
                </a:solidFill>
                <a:latin typeface="Inter"/>
                <a:ea typeface="Inter"/>
                <a:cs typeface="Inter"/>
                <a:sym typeface="Inter"/>
              </a:rPr>
              <a:t>Evaluation windows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1341100" y="5410950"/>
            <a:ext cx="12792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Training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observations: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675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3621003" y="5424625"/>
            <a:ext cx="1101000" cy="63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Test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observations: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135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8765977" y="1521652"/>
            <a:ext cx="28995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75"/>
              <a:buFont typeface="Inter"/>
              <a:buNone/>
            </a:pPr>
            <a:r>
              <a:rPr b="1" i="0" lang="en-US" sz="975" u="none" cap="none" strike="noStrike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Chronological split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5400973" y="4107805"/>
            <a:ext cx="6791027" cy="1988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GDP GROWTH OVER TIME — EU-27 AVG — EU-27 GDP growth -- 0% (baseline)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0789890" y="5074890"/>
            <a:ext cx="1048494" cy="1193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Five-fold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TimeSeriesSplit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was used inside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the training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for XGBoost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tuning.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0" name="Google Shape;160;p8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377875" y="315367"/>
            <a:ext cx="134094" cy="84340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/>
          <p:nvPr/>
        </p:nvSpPr>
        <p:spPr>
          <a:xfrm>
            <a:off x="707082" y="521040"/>
            <a:ext cx="114849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3750"/>
              <a:buFont typeface="Roboto"/>
              <a:buNone/>
            </a:pPr>
            <a:r>
              <a:rPr b="1" lang="en-US" sz="3150">
                <a:solidFill>
                  <a:srgbClr val="1A3646"/>
                </a:solidFill>
                <a:latin typeface="Roboto"/>
                <a:ea typeface="Roboto"/>
                <a:cs typeface="Roboto"/>
                <a:sym typeface="Roboto"/>
              </a:rPr>
              <a:t>Chronological Evaluation Design</a:t>
            </a:r>
            <a:endParaRPr b="1" sz="3150">
              <a:solidFill>
                <a:srgbClr val="1A36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7" name="Google Shape;16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8" name="Google Shape;16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1098" y="1433215"/>
            <a:ext cx="5285929" cy="1411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9" name="Google Shape;169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1098" y="3346698"/>
            <a:ext cx="5285929" cy="11299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0" name="Google Shape;170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1098" y="4985742"/>
            <a:ext cx="5285929" cy="16512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1" name="Google Shape;171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90975" y="1433225"/>
            <a:ext cx="5444425" cy="205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2" name="Google Shape;172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074938" y="2962573"/>
            <a:ext cx="19050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3" name="Google Shape;173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003640" y="3098890"/>
            <a:ext cx="161645" cy="161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4" name="Google Shape;174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074938" y="4601617"/>
            <a:ext cx="19050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5" name="Google Shape;175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003640" y="4737935"/>
            <a:ext cx="161645" cy="161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6" name="Google Shape;176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03169" y="3915817"/>
            <a:ext cx="134094" cy="1590973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9"/>
          <p:cNvSpPr/>
          <p:nvPr/>
        </p:nvSpPr>
        <p:spPr>
          <a:xfrm>
            <a:off x="353467" y="356592"/>
            <a:ext cx="11838533" cy="534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900"/>
              <a:buFont typeface="Roboto"/>
              <a:buNone/>
            </a:pPr>
            <a:r>
              <a:t/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719286" y="1611511"/>
            <a:ext cx="4757737" cy="281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25"/>
              <a:buFont typeface="Roboto"/>
              <a:buNone/>
            </a:pPr>
            <a:r>
              <a:rPr b="1" i="0" lang="en-US" sz="2025" u="none" cap="none" strike="noStrik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Naive Baselines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719286" y="2043559"/>
            <a:ext cx="2857500" cy="239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Naive mean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731490" y="2372767"/>
            <a:ext cx="4777740" cy="274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Naive persistence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719286" y="3538686"/>
            <a:ext cx="5066347" cy="2879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25"/>
              <a:buFont typeface="Roboto"/>
              <a:buNone/>
            </a:pPr>
            <a:r>
              <a:rPr b="1" i="0" lang="en-US" sz="2025" u="none" cap="none" strike="noStrik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Linear Benchmark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731490" y="3998119"/>
            <a:ext cx="4777740" cy="267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Linear Regression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719286" y="5136505"/>
            <a:ext cx="5374957" cy="281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25"/>
              <a:buFont typeface="Roboto"/>
              <a:buNone/>
            </a:pPr>
            <a:r>
              <a:rPr b="1" i="0" lang="en-US" sz="2025" u="none" cap="none" strike="noStrik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Tree-Based Models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719286" y="5541169"/>
            <a:ext cx="3680460" cy="239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Random Forest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731490" y="5870377"/>
            <a:ext cx="4503420" cy="246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Baseline XGBoost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731490" y="6213277"/>
            <a:ext cx="3680460" cy="253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Tuned XGBoost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6461671" y="1549896"/>
            <a:ext cx="5730329" cy="363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5D67"/>
              </a:buClr>
              <a:buSzPts val="2550"/>
              <a:buFont typeface="Roboto"/>
              <a:buNone/>
            </a:pPr>
            <a:r>
              <a:rPr b="1" i="0" lang="en-US" sz="2550" u="none" cap="none" strike="noStrike">
                <a:solidFill>
                  <a:srgbClr val="2A5D67"/>
                </a:solidFill>
                <a:latin typeface="Roboto"/>
                <a:ea typeface="Roboto"/>
                <a:cs typeface="Roboto"/>
                <a:sym typeface="Roboto"/>
              </a:rPr>
              <a:t>Primary Metric: MAE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461671" y="2084784"/>
            <a:ext cx="5326380" cy="253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Mean Absolute Error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6461671" y="2523679"/>
            <a:ext cx="5730329" cy="294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Measured in GDP-growth percentage points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6461671" y="3017490"/>
            <a:ext cx="4229100" cy="253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Lower is better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644550" y="4100950"/>
            <a:ext cx="5286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rPr b="1" i="0" lang="en-US" sz="2400" u="none" cap="none" strike="noStrike">
                <a:solidFill>
                  <a:srgbClr val="1A237E"/>
                </a:solidFill>
                <a:latin typeface="Roboto"/>
                <a:ea typeface="Roboto"/>
                <a:cs typeface="Roboto"/>
                <a:sym typeface="Roboto"/>
              </a:rPr>
              <a:t>MAE is the main comparison metric</a:t>
            </a:r>
            <a:endParaRPr b="0" i="0" sz="2400" u="none" cap="none" strike="noStrike">
              <a:solidFill>
                <a:srgbClr val="1A237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rPr b="1" i="0" lang="en-US" sz="2400" u="none" cap="none" strike="noStrike">
                <a:solidFill>
                  <a:srgbClr val="1A237E"/>
                </a:solidFill>
                <a:latin typeface="Roboto"/>
                <a:ea typeface="Roboto"/>
                <a:cs typeface="Roboto"/>
                <a:sym typeface="Roboto"/>
              </a:rPr>
              <a:t>because it reads directly as the</a:t>
            </a:r>
            <a:endParaRPr b="0" i="0" sz="2400" u="none" cap="none" strike="noStrike">
              <a:solidFill>
                <a:srgbClr val="1A237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rPr b="1" i="0" lang="en-US" sz="2400" u="none" cap="none" strike="noStrike">
                <a:solidFill>
                  <a:srgbClr val="1A237E"/>
                </a:solidFill>
                <a:latin typeface="Roboto"/>
                <a:ea typeface="Roboto"/>
                <a:cs typeface="Roboto"/>
                <a:sym typeface="Roboto"/>
              </a:rPr>
              <a:t>average absolute forecasting error.</a:t>
            </a:r>
            <a:endParaRPr b="0" i="0" sz="2400" u="none" cap="none" strike="noStrike">
              <a:solidFill>
                <a:srgbClr val="1A2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449467" y="5781229"/>
            <a:ext cx="5742533" cy="308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Roboto"/>
              <a:buNone/>
            </a:pPr>
            <a:r>
              <a:rPr b="0" i="0" lang="en-US" sz="21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Secondary metrics: RMSE and R².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6461671" y="6144667"/>
            <a:ext cx="5730329" cy="308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Roboto"/>
              <a:buNone/>
            </a:pPr>
            <a:r>
              <a:rPr b="0" i="0" lang="en-US" sz="21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All test R² values remained negative.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4" name="Google Shape;194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77875" y="315367"/>
            <a:ext cx="134094" cy="84340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9"/>
          <p:cNvSpPr/>
          <p:nvPr/>
        </p:nvSpPr>
        <p:spPr>
          <a:xfrm>
            <a:off x="707082" y="521040"/>
            <a:ext cx="114849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3750"/>
              <a:buFont typeface="Roboto"/>
              <a:buNone/>
            </a:pPr>
            <a:r>
              <a:rPr b="1" lang="en-US" sz="3150">
                <a:solidFill>
                  <a:srgbClr val="1A3646"/>
                </a:solidFill>
                <a:latin typeface="Roboto"/>
                <a:ea typeface="Roboto"/>
                <a:cs typeface="Roboto"/>
                <a:sym typeface="Roboto"/>
              </a:rPr>
              <a:t>Models and Evaluation Metrics</a:t>
            </a:r>
            <a:endParaRPr b="1" sz="3150">
              <a:solidFill>
                <a:srgbClr val="1A36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1" name="Google Shape;20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2" name="Google Shape;20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3467" y="1186309"/>
            <a:ext cx="6602609" cy="44355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3" name="Google Shape;20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3467" y="1200150"/>
            <a:ext cx="6583561" cy="4388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4" name="Google Shape;204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6063" y="4629150"/>
            <a:ext cx="6054030" cy="9859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5" name="Google Shape;205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59067" y="1186309"/>
            <a:ext cx="4798220" cy="47949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6" name="Google Shape;206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59067" y="1227534"/>
            <a:ext cx="4779169" cy="4113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7" name="Google Shape;207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53467" y="5924550"/>
            <a:ext cx="11484770" cy="686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8" name="Google Shape;208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9765" y="6000750"/>
            <a:ext cx="536377" cy="534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9" name="Google Shape;209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4565" y="4759375"/>
            <a:ext cx="499765" cy="4799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0" name="Google Shape;210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48580" y="1844725"/>
            <a:ext cx="6047184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0"/>
          <p:cNvSpPr/>
          <p:nvPr/>
        </p:nvSpPr>
        <p:spPr>
          <a:xfrm>
            <a:off x="2316361" y="1309836"/>
            <a:ext cx="66819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Roboto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XGBoost CV Search Results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1548259" y="4745682"/>
            <a:ext cx="4852500" cy="7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5631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1E5631"/>
                </a:solidFill>
                <a:latin typeface="Roboto"/>
                <a:ea typeface="Roboto"/>
                <a:cs typeface="Roboto"/>
                <a:sym typeface="Roboto"/>
              </a:rPr>
              <a:t>Reference only: the Naive Mean achieved a final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5631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1E5631"/>
                </a:solidFill>
                <a:latin typeface="Roboto"/>
                <a:ea typeface="Roboto"/>
                <a:cs typeface="Roboto"/>
                <a:sym typeface="Roboto"/>
              </a:rPr>
              <a:t>held-out test MAE of 2.490. This is not a Grid Search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5631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1E5631"/>
                </a:solidFill>
                <a:latin typeface="Roboto"/>
                <a:ea typeface="Roboto"/>
                <a:cs typeface="Roboto"/>
                <a:sym typeface="Roboto"/>
              </a:rPr>
              <a:t>CV score and is therefore not plotted in the CV chart.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8327082" y="1309836"/>
            <a:ext cx="3864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Roboto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Final Configuration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7388275" y="1940719"/>
            <a:ext cx="47796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50"/>
              <a:buFont typeface="Roboto"/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● max_depth = 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7388275" y="2530525"/>
            <a:ext cx="4803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50"/>
              <a:buFont typeface="Roboto"/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● n_estimators = 90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7388275" y="3127177"/>
            <a:ext cx="48036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50"/>
              <a:buFont typeface="Roboto"/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● learning_rate = 0.035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7388275" y="3716982"/>
            <a:ext cx="48036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50"/>
              <a:buFont typeface="Roboto"/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● subsample = 0.85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7388275" y="4306788"/>
            <a:ext cx="48036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50"/>
              <a:buFont typeface="Roboto"/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● colsample_bytree = 0.7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7388275" y="4889748"/>
            <a:ext cx="480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50"/>
              <a:buFont typeface="Roboto"/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● reg_lambda = 1.0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1133773" y="6158359"/>
            <a:ext cx="110583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28A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1A428A"/>
                </a:solidFill>
                <a:latin typeface="Roboto"/>
                <a:ea typeface="Roboto"/>
                <a:cs typeface="Roboto"/>
                <a:sym typeface="Roboto"/>
              </a:rPr>
              <a:t>Tuning improved XGBoost internally, but it did not beat the Naive Mean on the final held-out test set.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1" name="Google Shape;221;p1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77875" y="315367"/>
            <a:ext cx="134094" cy="84340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0"/>
          <p:cNvSpPr/>
          <p:nvPr/>
        </p:nvSpPr>
        <p:spPr>
          <a:xfrm>
            <a:off x="707082" y="521040"/>
            <a:ext cx="114849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3750"/>
              <a:buFont typeface="Roboto"/>
              <a:buNone/>
            </a:pPr>
            <a:r>
              <a:rPr b="1" lang="en-US" sz="3150">
                <a:solidFill>
                  <a:srgbClr val="1A3646"/>
                </a:solidFill>
                <a:latin typeface="Roboto"/>
                <a:ea typeface="Roboto"/>
                <a:cs typeface="Roboto"/>
                <a:sym typeface="Roboto"/>
              </a:rPr>
              <a:t>XGBoost Hyperparameter Tuning</a:t>
            </a:r>
            <a:endParaRPr b="1" sz="3150">
              <a:solidFill>
                <a:srgbClr val="1A36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8" name="Google Shape;22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9" name="Google Shape;22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7875" y="1263848"/>
            <a:ext cx="11448157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0" name="Google Shape;23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46900" y="1940719"/>
            <a:ext cx="9525" cy="43547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1" name="Google Shape;231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83388" y="2765822"/>
            <a:ext cx="4218384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2" name="Google Shape;232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83388" y="3849291"/>
            <a:ext cx="4218384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3" name="Google Shape;233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83388" y="5193506"/>
            <a:ext cx="4218384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4" name="Google Shape;234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0" y="5472559"/>
            <a:ext cx="48667" cy="8228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5" name="Google Shape;235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571184" y="4114800"/>
            <a:ext cx="524173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6" name="Google Shape;236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71184" y="3038029"/>
            <a:ext cx="524173" cy="521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7" name="Google Shape;237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571184" y="1975098"/>
            <a:ext cx="524173" cy="521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8" name="Google Shape;238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53467" y="1892796"/>
            <a:ext cx="6729859" cy="4608463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1"/>
          <p:cNvSpPr/>
          <p:nvPr/>
        </p:nvSpPr>
        <p:spPr>
          <a:xfrm>
            <a:off x="329059" y="1494979"/>
            <a:ext cx="11862941" cy="253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Test MAE in GDP-growth percentage points — lower is better.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8168580" y="1968103"/>
            <a:ext cx="4023420" cy="233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82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2D6A82"/>
                </a:solidFill>
                <a:latin typeface="Montserrat"/>
                <a:ea typeface="Montserrat"/>
                <a:cs typeface="Montserrat"/>
                <a:sym typeface="Montserrat"/>
              </a:rPr>
              <a:t>Best overall: Naive mean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8168580" y="2297311"/>
            <a:ext cx="4023420" cy="226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Montserrat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Lowest held-out Test MAE: 2.490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8168580" y="3044875"/>
            <a:ext cx="4023420" cy="253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5D31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945D31"/>
                </a:solidFill>
                <a:latin typeface="Montserrat"/>
                <a:ea typeface="Montserrat"/>
                <a:cs typeface="Montserrat"/>
                <a:sym typeface="Montserrat"/>
              </a:rPr>
              <a:t>Best non-naive: Linear Regression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8168580" y="3374082"/>
            <a:ext cx="3927158" cy="226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Montserrat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Test MAE: 2.748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8168580" y="4128492"/>
            <a:ext cx="4023420" cy="239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8A9C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5D8A9C"/>
                </a:solidFill>
                <a:latin typeface="Montserrat"/>
                <a:ea typeface="Montserrat"/>
                <a:cs typeface="Montserrat"/>
                <a:sym typeface="Montserrat"/>
              </a:rPr>
              <a:t>Strongest tree-based: Tuned XGBoost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8168580" y="4471392"/>
            <a:ext cx="2828479" cy="479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Improved over baseline XGBoost,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but did not beat Naive mean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7778353" y="5506938"/>
            <a:ext cx="3755082" cy="781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All test R² values remained negative,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reinforcing that short-horizon GDP growth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was difficult to predict reliably.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7" name="Google Shape;247;p1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77875" y="315367"/>
            <a:ext cx="134094" cy="8434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1"/>
          <p:cNvSpPr/>
          <p:nvPr/>
        </p:nvSpPr>
        <p:spPr>
          <a:xfrm>
            <a:off x="707082" y="521040"/>
            <a:ext cx="114849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3750"/>
              <a:buFont typeface="Roboto"/>
              <a:buNone/>
            </a:pPr>
            <a:r>
              <a:rPr b="1" lang="en-US" sz="3150">
                <a:solidFill>
                  <a:srgbClr val="1A3646"/>
                </a:solidFill>
                <a:latin typeface="Roboto"/>
                <a:ea typeface="Roboto"/>
                <a:cs typeface="Roboto"/>
                <a:sym typeface="Roboto"/>
              </a:rPr>
              <a:t>Final Model Performance Results</a:t>
            </a:r>
            <a:endParaRPr b="1" sz="3150">
              <a:solidFill>
                <a:srgbClr val="1A36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4" name="Google Shape;25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5" name="Google Shape;25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6690" y="1131540"/>
            <a:ext cx="11357519" cy="447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6" name="Google Shape;256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7788" y="1741884"/>
            <a:ext cx="10314382" cy="3758059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2"/>
          <p:cNvSpPr/>
          <p:nvPr/>
        </p:nvSpPr>
        <p:spPr>
          <a:xfrm>
            <a:off x="3279577" y="1220688"/>
            <a:ext cx="8912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77"/>
              </a:buClr>
              <a:buSzPts val="2250"/>
              <a:buFont typeface="Roboto"/>
              <a:buNone/>
            </a:pPr>
            <a:r>
              <a:rPr b="1" i="0" lang="en-US" sz="2250" u="none" cap="none" strike="noStrike">
                <a:solidFill>
                  <a:srgbClr val="334E77"/>
                </a:solidFill>
                <a:latin typeface="Roboto"/>
                <a:ea typeface="Roboto"/>
                <a:cs typeface="Roboto"/>
                <a:sym typeface="Roboto"/>
              </a:rPr>
              <a:t>Normalized feature importance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536375" y="5747000"/>
            <a:ext cx="112479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4E77"/>
              </a:buClr>
              <a:buSzPts val="1500"/>
              <a:buFont typeface="Roboto"/>
              <a:buNone/>
            </a:pPr>
            <a:r>
              <a:rPr b="1" i="0" lang="en-US" sz="1500" u="none" cap="none" strike="noStrike">
                <a:solidFill>
                  <a:srgbClr val="334E77"/>
                </a:solidFill>
                <a:latin typeface="Roboto"/>
                <a:ea typeface="Roboto"/>
                <a:cs typeface="Roboto"/>
                <a:sym typeface="Roboto"/>
              </a:rPr>
              <a:t>GDP growth is the most influential individual feature, followed by inflation, government consumption, and the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500" u="none" cap="none" strike="noStrike">
                <a:solidFill>
                  <a:srgbClr val="334E77"/>
                </a:solidFill>
                <a:latin typeface="Roboto"/>
                <a:ea typeface="Roboto"/>
                <a:cs typeface="Roboto"/>
                <a:sym typeface="Roboto"/>
              </a:rPr>
              <a:t>first GDP-growth lag. However, importance is distributed across all indicators rather than concentrated in one feature.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548580" y="6322963"/>
            <a:ext cx="11643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77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334E77"/>
                </a:solidFill>
                <a:latin typeface="Roboto"/>
                <a:ea typeface="Roboto"/>
                <a:cs typeface="Roboto"/>
                <a:sym typeface="Roboto"/>
              </a:rPr>
              <a:t>Feature importance indicates predictive usefulness in this model. It does not demonstrate causality.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0" name="Google Shape;260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7875" y="315367"/>
            <a:ext cx="134094" cy="8434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2"/>
          <p:cNvSpPr/>
          <p:nvPr/>
        </p:nvSpPr>
        <p:spPr>
          <a:xfrm>
            <a:off x="707082" y="521040"/>
            <a:ext cx="114849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3750"/>
              <a:buFont typeface="Roboto"/>
              <a:buNone/>
            </a:pPr>
            <a:r>
              <a:rPr b="1" lang="en-US" sz="3150">
                <a:solidFill>
                  <a:srgbClr val="1A3646"/>
                </a:solidFill>
                <a:latin typeface="Roboto"/>
                <a:ea typeface="Roboto"/>
                <a:cs typeface="Roboto"/>
                <a:sym typeface="Roboto"/>
              </a:rPr>
              <a:t>Feature Importance Is Diffuse</a:t>
            </a:r>
            <a:endParaRPr b="1" sz="3150">
              <a:solidFill>
                <a:srgbClr val="1A36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7" name="Google Shape;26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8" name="Google Shape;26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1263" y="246757"/>
            <a:ext cx="109686" cy="706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9" name="Google Shape;26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0392" y="1227534"/>
            <a:ext cx="5712618" cy="38869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0" name="Google Shape;27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81279" y="1241227"/>
            <a:ext cx="5712618" cy="38731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1" name="Google Shape;271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0392" y="5170884"/>
            <a:ext cx="11613506" cy="10407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2" name="Google Shape;272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115991" y="5246340"/>
            <a:ext cx="95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3" name="Google Shape;273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32093" y="5246340"/>
            <a:ext cx="95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4" name="Google Shape;274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80392" y="6267450"/>
            <a:ext cx="11594453" cy="584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5" name="Google Shape;275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09600" y="6343650"/>
            <a:ext cx="438894" cy="432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6" name="Google Shape;276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192988" y="5253186"/>
            <a:ext cx="609600" cy="5828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7" name="Google Shape;277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389090" y="5253186"/>
            <a:ext cx="609600" cy="5828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8" name="Google Shape;278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60784" y="5253186"/>
            <a:ext cx="597396" cy="5828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9" name="Google Shape;279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437263" y="1803648"/>
            <a:ext cx="5242471" cy="2846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0" name="Google Shape;280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38894" y="1831032"/>
            <a:ext cx="5486400" cy="270882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3"/>
          <p:cNvSpPr/>
          <p:nvPr/>
        </p:nvSpPr>
        <p:spPr>
          <a:xfrm>
            <a:off x="658267" y="246757"/>
            <a:ext cx="115338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Roboto"/>
              <a:buNone/>
            </a:pPr>
            <a:r>
              <a:rPr b="1" i="0" lang="en-US" sz="3600" u="none" cap="none" strike="noStrike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rPr>
              <a:t>Country and GDP-per-Capita Group Errors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707082" y="829717"/>
            <a:ext cx="114849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Country-level forecasting errors vary far more than income-group averages.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1889671" y="1385292"/>
            <a:ext cx="6139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50"/>
              <a:buFont typeface="Roboto"/>
              <a:buNone/>
            </a:pPr>
            <a:r>
              <a:rPr b="1" i="0" lang="en-US" sz="1650" u="none" cap="none" strike="noStrike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rPr>
              <a:t>GDP-per-Capita Group MAE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1633686" y="4752529"/>
            <a:ext cx="78534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75"/>
              <a:buFont typeface="Roboto"/>
              <a:buNone/>
            </a:pPr>
            <a:r>
              <a:rPr b="0" i="0" lang="en-US" sz="1275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Differences are small and non-monotonic.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7985671" y="1385292"/>
            <a:ext cx="412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50"/>
              <a:buFont typeface="Roboto"/>
              <a:buNone/>
            </a:pPr>
            <a:r>
              <a:rPr b="1" i="0" lang="en-US" sz="1650" u="none" cap="none" strike="noStrike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rPr>
              <a:t>Country Extremes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6888361" y="4752529"/>
            <a:ext cx="53037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75"/>
              <a:buFont typeface="Roboto"/>
              <a:buNone/>
            </a:pPr>
            <a:r>
              <a:rPr b="0" i="0" lang="en-US" sz="1275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Country-level spread is much larger than group-level spread.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1243459" y="5287417"/>
            <a:ext cx="35244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Font typeface="Roboto"/>
              <a:buNone/>
            </a:pPr>
            <a:r>
              <a:rPr b="1" i="0" lang="en-US" sz="1500" u="none" cap="none" strike="noStrike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rPr>
              <a:t>Main diagnostic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1231249" y="5568550"/>
            <a:ext cx="25032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Country-level differences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dominate the error pattern.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5071765" y="5294263"/>
            <a:ext cx="3067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Font typeface="Roboto"/>
              <a:buNone/>
            </a:pPr>
            <a:r>
              <a:rPr b="1" i="0" lang="en-US" sz="1500" u="none" cap="none" strike="noStrike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rPr>
              <a:t>Income groups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5059548" y="5568550"/>
            <a:ext cx="26211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Group averages remain close,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with no monotonic pattern.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8887867" y="5280571"/>
            <a:ext cx="3304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Font typeface="Roboto"/>
              <a:buNone/>
            </a:pPr>
            <a:r>
              <a:rPr b="1" i="0" lang="en-US" sz="1500" u="none" cap="none" strike="noStrike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rPr>
              <a:t>Likely influences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8887877" y="5513775"/>
            <a:ext cx="29202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Country-specific shocks, GDP</a:t>
            </a: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3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revisions, and accounting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effects matter.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1206996" y="6460182"/>
            <a:ext cx="10985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50"/>
              <a:buFont typeface="Roboto"/>
              <a:buNone/>
            </a:pPr>
            <a:r>
              <a:rPr b="1" i="0" lang="en-US" sz="1650" u="none" cap="none" strike="noStrike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rPr>
              <a:t>Key Takeaway: Error differences are more country-specific than income-tier-specific.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9" name="Google Shape;2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0" name="Google Shape;3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7900" y="3007292"/>
            <a:ext cx="134094" cy="84340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4"/>
          <p:cNvSpPr/>
          <p:nvPr/>
        </p:nvSpPr>
        <p:spPr>
          <a:xfrm>
            <a:off x="707107" y="3212965"/>
            <a:ext cx="114849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3750"/>
              <a:buFont typeface="Roboto"/>
              <a:buNone/>
            </a:pPr>
            <a:r>
              <a:rPr b="1" lang="en-US" sz="3150">
                <a:solidFill>
                  <a:srgbClr val="1A3646"/>
                </a:solidFill>
                <a:latin typeface="Roboto"/>
                <a:ea typeface="Roboto"/>
                <a:cs typeface="Roboto"/>
                <a:sym typeface="Roboto"/>
              </a:rPr>
              <a:t>Interactive Tableau Dashboard</a:t>
            </a:r>
            <a:endParaRPr b="1" sz="3150">
              <a:solidFill>
                <a:srgbClr val="1A36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7" name="Google Shape;3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8" name="Google Shape;3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8188" y="253603"/>
            <a:ext cx="134094" cy="6514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9" name="Google Shape;3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70315" y="1512838"/>
            <a:ext cx="1853298" cy="326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0" name="Google Shape;31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69326" y="1512838"/>
            <a:ext cx="1853297" cy="326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1" name="Google Shape;31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68189" y="1512838"/>
            <a:ext cx="1853297" cy="326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2" name="Google Shape;31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91732" y="1090298"/>
            <a:ext cx="21925" cy="35523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3" name="Google Shape;31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56500" y="1090298"/>
            <a:ext cx="21925" cy="35523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4" name="Google Shape;314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1275" y="4862450"/>
            <a:ext cx="11496948" cy="19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5" name="Google Shape;315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60784" y="5211961"/>
            <a:ext cx="11070338" cy="1152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6" name="Google Shape;316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65547" y="5216262"/>
            <a:ext cx="3686937" cy="285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7" name="Google Shape;317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252484" y="5216262"/>
            <a:ext cx="3686937" cy="285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8" name="Google Shape;318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939421" y="5216262"/>
            <a:ext cx="3686937" cy="285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9" name="Google Shape;319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65547" y="5502147"/>
            <a:ext cx="3686937" cy="285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0" name="Google Shape;320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252484" y="5502147"/>
            <a:ext cx="3686937" cy="285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1" name="Google Shape;321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939421" y="5502147"/>
            <a:ext cx="3686937" cy="285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2" name="Google Shape;322;p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65547" y="5788033"/>
            <a:ext cx="11060814" cy="285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3" name="Google Shape;323;p1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65547" y="5788033"/>
            <a:ext cx="3686937" cy="285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4" name="Google Shape;324;p1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252484" y="5788033"/>
            <a:ext cx="3686937" cy="285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5" name="Google Shape;325;p1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939421" y="5788033"/>
            <a:ext cx="3686937" cy="285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6" name="Google Shape;326;p1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565547" y="6073918"/>
            <a:ext cx="3686937" cy="285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7" name="Google Shape;327;p1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252484" y="6073918"/>
            <a:ext cx="3686937" cy="285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8" name="Google Shape;328;p15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7939421" y="6073918"/>
            <a:ext cx="3686937" cy="285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9" name="Google Shape;329;p15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60784" y="6425803"/>
            <a:ext cx="268188" cy="2674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0" name="Google Shape;330;p15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8192988" y="1069777"/>
            <a:ext cx="487561" cy="4799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1" name="Google Shape;331;p15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4340275" y="1069777"/>
            <a:ext cx="487561" cy="4799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2" name="Google Shape;332;p15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548580" y="1069777"/>
            <a:ext cx="487561" cy="479971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5"/>
          <p:cNvSpPr/>
          <p:nvPr/>
        </p:nvSpPr>
        <p:spPr>
          <a:xfrm>
            <a:off x="684610" y="5216262"/>
            <a:ext cx="3639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Configuration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4214384" y="5216262"/>
            <a:ext cx="3753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MAE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7939421" y="5216262"/>
            <a:ext cx="3677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684610" y="5502147"/>
            <a:ext cx="3639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Baseline 11 features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4214384" y="5502147"/>
            <a:ext cx="3753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2.841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7901321" y="5502147"/>
            <a:ext cx="3753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–0.332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684610" y="5788033"/>
            <a:ext cx="3639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Plus current account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4214384" y="5788033"/>
            <a:ext cx="3753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2.818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7901321" y="5788033"/>
            <a:ext cx="3753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–0.279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684610" y="6073918"/>
            <a:ext cx="4406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Plus current account and lag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4214384" y="6073918"/>
            <a:ext cx="3753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2.749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7901321" y="6073918"/>
            <a:ext cx="3753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–0.318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621655" y="294829"/>
            <a:ext cx="115704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525"/>
              <a:buFont typeface="Open Sans"/>
              <a:buNone/>
            </a:pPr>
            <a:r>
              <a:rPr b="1" i="0" lang="en-US" sz="3525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Conclusions, Limitations &amp; Future Work</a:t>
            </a:r>
            <a:endParaRPr b="0" i="0" sz="35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1145977" y="1158925"/>
            <a:ext cx="3131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1800"/>
              <a:buFont typeface="Open Sans"/>
              <a:buNone/>
            </a:pPr>
            <a:r>
              <a:rPr b="1" i="0" lang="en-US" sz="1800" u="none" cap="none" strike="noStrike">
                <a:solidFill>
                  <a:srgbClr val="336699"/>
                </a:solidFill>
                <a:latin typeface="Open Sans"/>
                <a:ea typeface="Open Sans"/>
                <a:cs typeface="Open Sans"/>
                <a:sym typeface="Open Sans"/>
              </a:rPr>
              <a:t>Conclusions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621649" y="1755575"/>
            <a:ext cx="3182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5"/>
              <a:buFont typeface="Open Sans"/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 Naive mean was best overall —</a:t>
            </a:r>
            <a:r>
              <a:rPr lang="en-US" sz="14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42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test MAE 2.490.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609600" y="2352225"/>
            <a:ext cx="31941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5"/>
              <a:buFont typeface="Open Sans"/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 Linear Regression was best non-naive — test MAE 2.748.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609600" y="2983100"/>
            <a:ext cx="31821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5"/>
              <a:buFont typeface="Open Sans"/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 Tuned XGBoost was strongest</a:t>
            </a:r>
            <a:r>
              <a:rPr lang="en-US" sz="14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42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tree-based — test MAE 2.841.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609600" y="3607300"/>
            <a:ext cx="31941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5"/>
              <a:buFont typeface="Open Sans"/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 Tuning improved XGBoost but did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5"/>
              <a:buFont typeface="Open Sans"/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not beat the naive mean.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609600" y="4238175"/>
            <a:ext cx="31941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5"/>
              <a:buFont typeface="Open Sans"/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 Country-level errors exceeded</a:t>
            </a:r>
            <a:r>
              <a:rPr lang="en-US" sz="14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42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GDP-per-capita group differences.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4986486" y="1158925"/>
            <a:ext cx="3131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1800"/>
              <a:buFont typeface="Open Sans"/>
              <a:buNone/>
            </a:pPr>
            <a:r>
              <a:rPr b="1" i="0" lang="en-US" sz="1800" u="none" cap="none" strike="noStrike">
                <a:solidFill>
                  <a:srgbClr val="336699"/>
                </a:solidFill>
                <a:latin typeface="Open Sans"/>
                <a:ea typeface="Open Sans"/>
                <a:cs typeface="Open Sans"/>
                <a:sym typeface="Open Sans"/>
              </a:rPr>
              <a:t>Limitations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4401294" y="1755577"/>
            <a:ext cx="33039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5"/>
              <a:buFont typeface="Open Sans"/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 Test period includes COVID-19 shocks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5"/>
              <a:buFont typeface="Open Sans"/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and post-pandemic rebounds.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4401294" y="2352229"/>
            <a:ext cx="7790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Open Sans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 Training sample: 675 observations.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4413498" y="2688282"/>
            <a:ext cx="7286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Open Sans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 All test R² values were negative.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4413500" y="3038025"/>
            <a:ext cx="3340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5"/>
              <a:buFont typeface="Open Sans"/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 Country observations are not fully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5"/>
              <a:buFont typeface="Open Sans"/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independent.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4413498" y="3627834"/>
            <a:ext cx="31698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5"/>
              <a:buFont typeface="Open Sans"/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 GDP revisions and country-specific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5"/>
              <a:buFont typeface="Open Sans"/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accounting effects influence results.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4413498" y="4238179"/>
            <a:ext cx="2913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5"/>
              <a:buFont typeface="Open Sans"/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 Feature importance is predictive,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5"/>
              <a:buFont typeface="Open Sans"/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not causal.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8826996" y="1172617"/>
            <a:ext cx="3131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1800"/>
              <a:buFont typeface="Open Sans"/>
              <a:buNone/>
            </a:pPr>
            <a:r>
              <a:rPr b="1" i="0" lang="en-US" sz="1800" u="none" cap="none" strike="noStrike">
                <a:solidFill>
                  <a:srgbClr val="336699"/>
                </a:solidFill>
                <a:latin typeface="Open Sans"/>
                <a:ea typeface="Open Sans"/>
                <a:cs typeface="Open Sans"/>
                <a:sym typeface="Open Sans"/>
              </a:rPr>
              <a:t>Future work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8253859" y="1755577"/>
            <a:ext cx="31089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5"/>
              <a:buFont typeface="Open Sans"/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 Use rolling-origin evaluation across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5"/>
              <a:buFont typeface="Open Sans"/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multiple forecast periods.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8253859" y="2352229"/>
            <a:ext cx="3340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5"/>
              <a:buFont typeface="Open Sans"/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 Introduce a separate validation period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5"/>
              <a:buFont typeface="Open Sans"/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for feature selection.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8253859" y="2976265"/>
            <a:ext cx="31821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5"/>
              <a:buFont typeface="Open Sans"/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 Add reliable country-specific, shock,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5"/>
              <a:buFont typeface="Open Sans"/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and policy indicators.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8253859" y="3614142"/>
            <a:ext cx="2621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5"/>
              <a:buFont typeface="Open Sans"/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 Investigate richer time-series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5"/>
              <a:buFont typeface="Open Sans"/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methods where appropriate.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621655" y="4951363"/>
            <a:ext cx="11570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500"/>
              <a:buFont typeface="Open Sans"/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Exploratory feature expansion — not final model performance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865584" y="6460182"/>
            <a:ext cx="113265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Held-out test data were used for this comparison; a separate validation period is required before feature selection.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1" name="Google Shape;37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2" name="Google Shape;37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143500"/>
            <a:ext cx="121920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6"/>
          <p:cNvSpPr/>
          <p:nvPr/>
        </p:nvSpPr>
        <p:spPr>
          <a:xfrm>
            <a:off x="731500" y="2180650"/>
            <a:ext cx="90585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900"/>
              <a:buFont typeface="Inter"/>
              <a:buNone/>
            </a:pPr>
            <a:r>
              <a:rPr b="1" lang="en-US" sz="3900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731490" y="5836146"/>
            <a:ext cx="11460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Ana Preto</a:t>
            </a:r>
            <a:endParaRPr b="1" sz="2100">
              <a:solidFill>
                <a:srgbClr val="22222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Sevgi </a:t>
            </a:r>
            <a:r>
              <a:rPr b="1" lang="en-US" sz="2100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Özdemir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